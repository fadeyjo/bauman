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1A1A6-3F8C-BFA0-4A6B-6295624949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000" dirty="0"/>
              <a:t>Разработка клиент-серверного приложения для сбора и</a:t>
            </a:r>
            <a:br>
              <a:rPr lang="ru-RU" sz="3000" dirty="0"/>
            </a:br>
            <a:r>
              <a:rPr lang="ru-RU" sz="3000" dirty="0"/>
              <a:t>анализа телеметрических данных движения автомобиля на</a:t>
            </a:r>
            <a:br>
              <a:rPr lang="ru-RU" sz="3000" dirty="0"/>
            </a:br>
            <a:r>
              <a:rPr lang="ru-RU" sz="3000" dirty="0"/>
              <a:t>базе ESP32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C392E29-C7DE-979E-512A-2442EF12A6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ru-RU" dirty="0"/>
              <a:t>Группа: ИУК4-72Б</a:t>
            </a:r>
          </a:p>
          <a:p>
            <a:pPr algn="l"/>
            <a:r>
              <a:rPr lang="ru-RU" dirty="0"/>
              <a:t>Студент: Губин Егор Вячеславович</a:t>
            </a:r>
          </a:p>
        </p:txBody>
      </p:sp>
    </p:spTree>
    <p:extLst>
      <p:ext uri="{BB962C8B-B14F-4D97-AF65-F5344CB8AC3E}">
        <p14:creationId xmlns:p14="http://schemas.microsoft.com/office/powerpoint/2010/main" val="4084831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6AF2F7-B92B-8581-430D-8CD76B29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4A232A-2DE2-9350-E27B-2E0F0E3A7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80606"/>
            <a:ext cx="9601200" cy="504879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1800" b="1" dirty="0"/>
              <a:t>Целью</a:t>
            </a:r>
            <a:r>
              <a:rPr lang="ru-RU" sz="1800" dirty="0"/>
              <a:t> проекта является разработка клиент-серверной системы для сбора, передачи, хранения и визуализации телеметрии транспортного средства в реальном времени.</a:t>
            </a:r>
          </a:p>
          <a:p>
            <a:pPr marL="0" indent="0" algn="just">
              <a:buNone/>
            </a:pPr>
            <a:r>
              <a:rPr lang="ru-RU" sz="1800" b="1" dirty="0"/>
              <a:t>Актуальность</a:t>
            </a:r>
            <a:r>
              <a:rPr lang="ru-RU" sz="1800" dirty="0"/>
              <a:t> заключается в том, что современные транспортные системы требуют непрерывного мониторинга состояния техники, анализа маршрутов и параметров работы для повышения безопасности, снижения затрат и улучшения контроля эксплуатации. MQTT-протокол и </a:t>
            </a:r>
            <a:r>
              <a:rPr lang="ru-RU" sz="1800" dirty="0" err="1"/>
              <a:t>IoT</a:t>
            </a:r>
            <a:r>
              <a:rPr lang="ru-RU" sz="1800" dirty="0"/>
              <a:t>-подход позволяют реализовать такие системы эффективно и с минимальными ресурсами.</a:t>
            </a:r>
          </a:p>
          <a:p>
            <a:pPr marL="0" indent="0" algn="just">
              <a:buNone/>
            </a:pPr>
            <a:r>
              <a:rPr lang="ru-RU" sz="1800" b="1" dirty="0"/>
              <a:t>Задачи:</a:t>
            </a:r>
            <a:endParaRPr lang="ru-RU" sz="1800" dirty="0"/>
          </a:p>
          <a:p>
            <a:pPr algn="just"/>
            <a:r>
              <a:rPr lang="ru-RU" sz="1800" dirty="0"/>
              <a:t>Разработать MQTT-брокер для приема телеметрии от устройства.</a:t>
            </a:r>
          </a:p>
          <a:p>
            <a:pPr algn="just"/>
            <a:r>
              <a:rPr lang="ru-RU" sz="1800" dirty="0"/>
              <a:t>Спроектировать сервер обработки и хранения данных.</a:t>
            </a:r>
          </a:p>
          <a:p>
            <a:pPr algn="just"/>
            <a:r>
              <a:rPr lang="ru-RU" sz="1800" dirty="0"/>
              <a:t>Создать структуру базы данных для долговременной телеметрии.</a:t>
            </a:r>
          </a:p>
          <a:p>
            <a:pPr algn="just"/>
            <a:r>
              <a:rPr lang="ru-RU" sz="1800" dirty="0"/>
              <a:t>Реализовать клиентское приложение для отображения данных в реальном времени и просмотра истории.</a:t>
            </a:r>
          </a:p>
          <a:p>
            <a:pPr algn="just"/>
            <a:r>
              <a:rPr lang="ru-RU" sz="1800" dirty="0"/>
              <a:t>Организовать взаимодействие всех модулей и протестировать работоспособность системы.</a:t>
            </a:r>
          </a:p>
          <a:p>
            <a:pPr algn="just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216104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D8AF9-DF1E-31D6-ED95-F62DDF901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</a:t>
            </a:r>
            <a:r>
              <a:rPr lang="ru-RU" dirty="0"/>
              <a:t>-шина автомобиля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0400AE-CF3C-8CE9-6B20-93F70EF2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50423"/>
            <a:ext cx="9601200" cy="46438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b="1" dirty="0" err="1"/>
              <a:t>Controller</a:t>
            </a:r>
            <a:r>
              <a:rPr lang="ru-RU" sz="1800" b="1" dirty="0"/>
              <a:t> Area Network</a:t>
            </a:r>
            <a:r>
              <a:rPr lang="ru-RU" sz="1800" dirty="0"/>
              <a:t> — это высоконадежная шина связи, используемая в современных автомобилях для обмена данными между электронными блоками управления (ECU).</a:t>
            </a:r>
          </a:p>
          <a:p>
            <a:pPr marL="0" indent="0" algn="just">
              <a:buNone/>
            </a:pPr>
            <a:r>
              <a:rPr lang="ru-RU" sz="1800" b="1" dirty="0"/>
              <a:t>Основные особенности:</a:t>
            </a:r>
            <a:endParaRPr lang="ru-RU" sz="1800" dirty="0"/>
          </a:p>
          <a:p>
            <a:pPr algn="just"/>
            <a:r>
              <a:rPr lang="ru-RU" sz="1800" dirty="0"/>
              <a:t>Позволяет передавать данные без центрального компьютера.</a:t>
            </a:r>
          </a:p>
          <a:p>
            <a:pPr algn="just"/>
            <a:r>
              <a:rPr lang="ru-RU" sz="1800" dirty="0"/>
              <a:t>Обеспечивает высокую помехоустойчивость и надежность.</a:t>
            </a:r>
          </a:p>
          <a:p>
            <a:pPr algn="just"/>
            <a:r>
              <a:rPr lang="ru-RU" sz="1800" dirty="0"/>
              <a:t>Поддерживает скорость передачи до 1 Мбит/с.</a:t>
            </a:r>
          </a:p>
          <a:p>
            <a:pPr algn="just"/>
            <a:r>
              <a:rPr lang="ru-RU" sz="1800" dirty="0"/>
              <a:t>Работает по принципу приоритетных сообщений.</a:t>
            </a:r>
          </a:p>
          <a:p>
            <a:pPr marL="0" indent="0" algn="just">
              <a:buNone/>
            </a:pPr>
            <a:r>
              <a:rPr lang="ru-RU" sz="1800" b="1" dirty="0"/>
              <a:t>Почему она важна в проекте:</a:t>
            </a:r>
            <a:endParaRPr lang="ru-RU" sz="1800" dirty="0"/>
          </a:p>
          <a:p>
            <a:pPr algn="just"/>
            <a:r>
              <a:rPr lang="ru-RU" sz="1800" dirty="0"/>
              <a:t>Именно через CAN-шину устройство получает телеметрию: скорость, обороты двигателя, режимы работы, диагностическую информацию.</a:t>
            </a:r>
          </a:p>
          <a:p>
            <a:pPr algn="just"/>
            <a:r>
              <a:rPr lang="ru-RU" sz="1800" dirty="0"/>
              <a:t>CAN является унифицированным источником данных, что делает возможным сбор телеметрии практически с любого современного автомобиля.</a:t>
            </a:r>
          </a:p>
          <a:p>
            <a:pPr algn="just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572267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48AD65-518C-5C3B-AC33-7522B8C3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</a:t>
            </a:r>
            <a:r>
              <a:rPr lang="en-US" dirty="0"/>
              <a:t>CAN</a:t>
            </a:r>
            <a:r>
              <a:rPr lang="ru-RU" dirty="0"/>
              <a:t>-шины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1C576FF-58EE-C71A-82CA-F10E2C3968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853" y="2484576"/>
            <a:ext cx="6944694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1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EECC2-32FB-68E4-4D99-C77E78C0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 </a:t>
            </a:r>
            <a:r>
              <a:rPr lang="en-US" dirty="0"/>
              <a:t>ISO 11898-2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E707AE0-AE10-3AE4-40AC-066CC1B92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4321" y="2286000"/>
            <a:ext cx="8115757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10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6C894-08FF-C9E6-6462-498AAB0B5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Кадр </a:t>
            </a:r>
            <a:r>
              <a:rPr lang="en-US" dirty="0"/>
              <a:t>CAN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6D1CAB38-BA9C-E7CB-1835-DD72E0DC0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9148" y="1755865"/>
            <a:ext cx="8333704" cy="4663488"/>
          </a:xfrm>
        </p:spPr>
      </p:pic>
    </p:spTree>
    <p:extLst>
      <p:ext uri="{BB962C8B-B14F-4D97-AF65-F5344CB8AC3E}">
        <p14:creationId xmlns:p14="http://schemas.microsoft.com/office/powerpoint/2010/main" val="679124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28539-6264-F679-901E-525F670AC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 </a:t>
            </a:r>
            <a:r>
              <a:rPr lang="en-US" dirty="0"/>
              <a:t>SAE J1979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A0C8A4-1BA2-7A6F-0D6B-C75C2951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98171"/>
            <a:ext cx="9601200" cy="4572000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Сервис (Mode)</a:t>
            </a:r>
            <a:r>
              <a:rPr lang="ru-RU" dirty="0"/>
              <a:t> — это тип диагностического запроса, который отправляет сканер в ЭБУ. Каждый сервис определяет </a:t>
            </a:r>
            <a:r>
              <a:rPr lang="ru-RU" i="1" dirty="0"/>
              <a:t>что именно</a:t>
            </a:r>
            <a:r>
              <a:rPr lang="ru-RU" dirty="0"/>
              <a:t> спрашивается.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PID (</a:t>
            </a:r>
            <a:r>
              <a:rPr lang="ru-RU" b="1" dirty="0" err="1"/>
              <a:t>Parameter</a:t>
            </a:r>
            <a:r>
              <a:rPr lang="ru-RU" b="1" dirty="0"/>
              <a:t> ID) </a:t>
            </a:r>
            <a:r>
              <a:rPr lang="ru-RU" dirty="0"/>
              <a:t>— идентификатор параметра, который можно запросить внутри конкретного сервиса (обычно Mode 01).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Основным является сервис </a:t>
            </a:r>
            <a:r>
              <a:rPr lang="en-US" dirty="0"/>
              <a:t>0x01, </a:t>
            </a:r>
            <a:r>
              <a:rPr lang="ru-RU" dirty="0"/>
              <a:t>в котором определены </a:t>
            </a:r>
            <a:r>
              <a:rPr lang="en-US" dirty="0"/>
              <a:t>PID </a:t>
            </a:r>
            <a:r>
              <a:rPr lang="ru-RU" dirty="0"/>
              <a:t>мгновенные параметры работы автомобиля: скорость автомобиля (</a:t>
            </a:r>
            <a:r>
              <a:rPr lang="en-US" dirty="0"/>
              <a:t>0x0D</a:t>
            </a:r>
            <a:r>
              <a:rPr lang="ru-RU" dirty="0"/>
              <a:t>), </a:t>
            </a:r>
            <a:r>
              <a:rPr lang="en-US" dirty="0"/>
              <a:t>RPM (0x0C), </a:t>
            </a:r>
            <a:r>
              <a:rPr lang="ru-RU" dirty="0"/>
              <a:t>температура охлаждающей жидкости</a:t>
            </a:r>
            <a:r>
              <a:rPr lang="en-US" dirty="0"/>
              <a:t> (0x05)</a:t>
            </a:r>
            <a:r>
              <a:rPr lang="ru-RU" dirty="0"/>
              <a:t> и другие.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194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0F7F5-F0F1-2006-5057-6376B00D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 </a:t>
            </a:r>
            <a:r>
              <a:rPr lang="en-US" dirty="0"/>
              <a:t>NMEA 0183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78C5FA-D061-4532-EFDC-2CB8FE118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NMEA 0183 (от «National Marine Electronics Association») — стандарт определяющий текстовый протокол связи навигационного оборудования.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Устройство, работающее по данному протоколу, в качестве результата возвращает </a:t>
            </a:r>
            <a:r>
              <a:rPr lang="en-US" dirty="0"/>
              <a:t>NMEA-</a:t>
            </a:r>
            <a:r>
              <a:rPr lang="ru-RU" dirty="0"/>
              <a:t>строки, определяющие источники данных (</a:t>
            </a:r>
            <a:r>
              <a:rPr lang="en-US" dirty="0"/>
              <a:t>GP - GPS, GL - </a:t>
            </a:r>
            <a:r>
              <a:rPr lang="ru-RU" dirty="0"/>
              <a:t>Глонасс и другие) и идентификаторы строк (</a:t>
            </a:r>
            <a:r>
              <a:rPr lang="en-US" dirty="0"/>
              <a:t>GLL - </a:t>
            </a:r>
            <a:r>
              <a:rPr lang="ru-RU" dirty="0"/>
              <a:t>географические координаты и другие).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07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14476-3FCA-0154-A03B-07B25117E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MQTT-</a:t>
            </a:r>
            <a:r>
              <a:rPr lang="ru-RU" dirty="0"/>
              <a:t>протокол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588A44-F90F-AE99-44A5-28E847D05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49" y="1528354"/>
            <a:ext cx="11083834" cy="526433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dirty="0"/>
              <a:t>MQTT-</a:t>
            </a:r>
            <a:r>
              <a:rPr lang="ru-RU" sz="1600" dirty="0"/>
              <a:t>протокол</a:t>
            </a:r>
            <a:r>
              <a:rPr lang="en-US" sz="1600" dirty="0"/>
              <a:t> - </a:t>
            </a:r>
            <a:r>
              <a:rPr lang="ru-RU" sz="1600" dirty="0"/>
              <a:t>легковесный протокол передачи данных для устройств </a:t>
            </a:r>
            <a:r>
              <a:rPr lang="ru-RU" sz="1600" dirty="0" err="1"/>
              <a:t>IoT</a:t>
            </a:r>
            <a:r>
              <a:rPr lang="ru-RU" sz="1600" dirty="0"/>
              <a:t>, работающих в условиях ограниченных ресурсов и нестабильных сетей.</a:t>
            </a:r>
          </a:p>
          <a:p>
            <a:pPr marL="0" indent="0" algn="just">
              <a:buNone/>
            </a:pPr>
            <a:r>
              <a:rPr lang="ru-RU" sz="1600" b="1" dirty="0"/>
              <a:t>Ключевые особенности:</a:t>
            </a:r>
          </a:p>
          <a:p>
            <a:pPr algn="just"/>
            <a:r>
              <a:rPr lang="ru-RU" sz="1600" dirty="0"/>
              <a:t>Модель </a:t>
            </a:r>
            <a:r>
              <a:rPr lang="ru-RU" sz="1600" dirty="0" err="1"/>
              <a:t>Publish</a:t>
            </a:r>
            <a:r>
              <a:rPr lang="ru-RU" sz="1600" dirty="0"/>
              <a:t>/</a:t>
            </a:r>
            <a:r>
              <a:rPr lang="ru-RU" sz="1600" dirty="0" err="1"/>
              <a:t>Subscribe</a:t>
            </a:r>
            <a:r>
              <a:rPr lang="ru-RU" sz="1600" dirty="0"/>
              <a:t> — обмен данными через брокера, отсутствие прямого соединения между клиентами. </a:t>
            </a:r>
            <a:endParaRPr lang="en-US" sz="1600" dirty="0"/>
          </a:p>
          <a:p>
            <a:pPr algn="just"/>
            <a:r>
              <a:rPr lang="ru-RU" sz="1600" dirty="0"/>
              <a:t>Работа поверх TCP/IP — надежная передача.</a:t>
            </a:r>
          </a:p>
          <a:p>
            <a:pPr algn="just"/>
            <a:r>
              <a:rPr lang="ru-RU" sz="1600" dirty="0"/>
              <a:t>Качество обслуживания (</a:t>
            </a:r>
            <a:r>
              <a:rPr lang="ru-RU" sz="1600" dirty="0" err="1"/>
              <a:t>QoS</a:t>
            </a:r>
            <a:r>
              <a:rPr lang="ru-RU" sz="1600" dirty="0"/>
              <a:t>):</a:t>
            </a:r>
          </a:p>
          <a:p>
            <a:pPr lvl="1" algn="just"/>
            <a:r>
              <a:rPr lang="ru-RU" sz="1600" dirty="0" err="1"/>
              <a:t>QoS</a:t>
            </a:r>
            <a:r>
              <a:rPr lang="ru-RU" sz="1600" dirty="0"/>
              <a:t> 0 — “доставка без гарантии”;</a:t>
            </a:r>
          </a:p>
          <a:p>
            <a:pPr lvl="1" algn="just"/>
            <a:r>
              <a:rPr lang="ru-RU" sz="1600" dirty="0" err="1"/>
              <a:t>QoS</a:t>
            </a:r>
            <a:r>
              <a:rPr lang="ru-RU" sz="1600" dirty="0"/>
              <a:t> 1 — “доставка хотя бы один раз”;</a:t>
            </a:r>
          </a:p>
          <a:p>
            <a:pPr lvl="1" algn="just"/>
            <a:r>
              <a:rPr lang="ru-RU" sz="1600" dirty="0" err="1"/>
              <a:t>QoS</a:t>
            </a:r>
            <a:r>
              <a:rPr lang="ru-RU" sz="1600" dirty="0"/>
              <a:t> 2 — “доставка строго один раз”.</a:t>
            </a:r>
          </a:p>
          <a:p>
            <a:pPr marL="0" indent="0" algn="just">
              <a:buNone/>
            </a:pPr>
            <a:r>
              <a:rPr lang="ru-RU" sz="1600" b="1" dirty="0"/>
              <a:t>Элементы протокола:</a:t>
            </a:r>
          </a:p>
          <a:p>
            <a:pPr algn="just"/>
            <a:r>
              <a:rPr lang="ru-RU" sz="1600" dirty="0" err="1"/>
              <a:t>Broker</a:t>
            </a:r>
            <a:r>
              <a:rPr lang="ru-RU" sz="1600" dirty="0"/>
              <a:t> (брокер) — сервер маршрутизации сообщений.</a:t>
            </a:r>
          </a:p>
          <a:p>
            <a:pPr algn="just"/>
            <a:r>
              <a:rPr lang="ru-RU" sz="1600" dirty="0" err="1"/>
              <a:t>Publisher</a:t>
            </a:r>
            <a:r>
              <a:rPr lang="ru-RU" sz="1600" dirty="0"/>
              <a:t> — отправитель данных.</a:t>
            </a:r>
          </a:p>
          <a:p>
            <a:pPr algn="just"/>
            <a:r>
              <a:rPr lang="ru-RU" sz="1600" dirty="0" err="1"/>
              <a:t>Subscriber</a:t>
            </a:r>
            <a:r>
              <a:rPr lang="ru-RU" sz="1600" dirty="0"/>
              <a:t> — получатель данных.</a:t>
            </a:r>
          </a:p>
          <a:p>
            <a:pPr algn="just"/>
            <a:r>
              <a:rPr lang="ru-RU" sz="1600" dirty="0" err="1"/>
              <a:t>Topic</a:t>
            </a:r>
            <a:r>
              <a:rPr lang="ru-RU" sz="1600" dirty="0"/>
              <a:t> — тема для разграничения потоков сообщений.</a:t>
            </a:r>
          </a:p>
        </p:txBody>
      </p:sp>
    </p:spTree>
    <p:extLst>
      <p:ext uri="{BB962C8B-B14F-4D97-AF65-F5344CB8AC3E}">
        <p14:creationId xmlns:p14="http://schemas.microsoft.com/office/powerpoint/2010/main" val="286553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1A0D28-3E9C-6B0B-3269-1780C4E7B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Клиент-серверная архитектура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2D7AAAB-EF76-A9BB-BD81-0690C638D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8028" y="1632857"/>
            <a:ext cx="7968343" cy="493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95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1A8B6D-6A26-45B3-9313-D8561688D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Клиент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91ED80-D561-6745-0772-C07F8B6ED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Приложение представляет из себя сервис мониторинга телеметрических данных в реальном времени и анализа этих же данных за прошедшие сессии.</a:t>
            </a:r>
          </a:p>
          <a:p>
            <a:pPr marL="0" indent="0">
              <a:buNone/>
            </a:pPr>
            <a:r>
              <a:rPr lang="ru-RU" dirty="0"/>
              <a:t>Мониторинг в реальном времени представляет из себя отображение текущей геопозиции на карте и текущие основные параметры (скорость, направление движения, </a:t>
            </a:r>
            <a:r>
              <a:rPr lang="en-US" dirty="0"/>
              <a:t>RPM</a:t>
            </a:r>
            <a:r>
              <a:rPr lang="ru-RU" dirty="0"/>
              <a:t>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ru-RU" dirty="0"/>
              <a:t>На основе собранных данных можно воспроизвести маршрут на карте и построить графики: как менялась телеметрия на протяжении маршрута (или с течением времени).</a:t>
            </a:r>
          </a:p>
        </p:txBody>
      </p:sp>
    </p:spTree>
    <p:extLst>
      <p:ext uri="{BB962C8B-B14F-4D97-AF65-F5344CB8AC3E}">
        <p14:creationId xmlns:p14="http://schemas.microsoft.com/office/powerpoint/2010/main" val="1978863563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{AD218CCD-F969-489A-B0AF-21E821047536}TFc3084226-2d0c-440f-9f46-6b48c7a7f6704bbe0077-9f3b6c2d6720</Template>
  <TotalTime>200</TotalTime>
  <Words>567</Words>
  <Application>Microsoft Office PowerPoint</Application>
  <PresentationFormat>Широкоэкранный</PresentationFormat>
  <Paragraphs>51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Franklin Gothic Book</vt:lpstr>
      <vt:lpstr>Уголки</vt:lpstr>
      <vt:lpstr>Разработка клиент-серверного приложения для сбора и анализа телеметрических данных движения автомобиля на базе ESP32</vt:lpstr>
      <vt:lpstr>Введение</vt:lpstr>
      <vt:lpstr>CAN-шина автомобиля</vt:lpstr>
      <vt:lpstr>Схема CAN-шины</vt:lpstr>
      <vt:lpstr>Стандарт ISO 11898-2</vt:lpstr>
      <vt:lpstr>Кадр CAN</vt:lpstr>
      <vt:lpstr>Стандарт SAE J1979</vt:lpstr>
      <vt:lpstr>Протокол NMEA 0183</vt:lpstr>
      <vt:lpstr>MQTT-протокол</vt:lpstr>
      <vt:lpstr>Клиент-серверная архитектура</vt:lpstr>
      <vt:lpstr>Клиент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Губин</dc:creator>
  <cp:lastModifiedBy>Егор Губин</cp:lastModifiedBy>
  <cp:revision>13</cp:revision>
  <dcterms:created xsi:type="dcterms:W3CDTF">2025-12-09T16:23:28Z</dcterms:created>
  <dcterms:modified xsi:type="dcterms:W3CDTF">2025-12-10T08:53:59Z</dcterms:modified>
</cp:coreProperties>
</file>